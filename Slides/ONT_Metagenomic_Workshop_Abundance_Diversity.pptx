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9" r:id="rId3"/>
    <p:sldId id="257" r:id="rId4"/>
    <p:sldId id="270" r:id="rId5"/>
    <p:sldId id="260" r:id="rId6"/>
    <p:sldId id="263" r:id="rId7"/>
    <p:sldId id="25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8"/>
  </p:normalViewPr>
  <p:slideViewPr>
    <p:cSldViewPr snapToGrid="0" snapToObjects="1">
      <p:cViewPr varScale="1">
        <p:scale>
          <a:sx n="136" d="100"/>
          <a:sy n="136" d="100"/>
        </p:scale>
        <p:origin x="2784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618C0-0DEC-6344-9755-7DC1481368ED}" type="datetimeFigureOut">
              <a:rPr lang="en-VN" smtClean="0"/>
              <a:t>20/1/26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513CE-6E88-6D40-BBD5-FBAEA1F4BE69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96393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A513CE-6E88-6D40-BBD5-FBAEA1F4BE69}" type="slidenum">
              <a:rPr lang="en-VN" smtClean="0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17430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arpentries-lab.github.io/metagenomics-analysis/08-Diversity-tackled-with-R/index.html" TargetMode="External"/><Relationship Id="rId2" Type="http://schemas.openxmlformats.org/officeDocument/2006/relationships/hyperlink" Target="https://rpubs.com/mrgambero/taxa_alpha_be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yanhui09.github.io/microbiome_analysis/1_microbiome_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Alpha and Beta diversity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6D8303-0A8A-259C-4548-400434503C9F}"/>
              </a:ext>
            </a:extLst>
          </p:cNvPr>
          <p:cNvSpPr txBox="1"/>
          <p:nvPr/>
        </p:nvSpPr>
        <p:spPr>
          <a:xfrm>
            <a:off x="4557704" y="619782"/>
            <a:ext cx="131064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Raw Reads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A99EDE-2B08-BE61-2FBC-67EFB28EF5FC}"/>
              </a:ext>
            </a:extLst>
          </p:cNvPr>
          <p:cNvSpPr txBox="1"/>
          <p:nvPr/>
        </p:nvSpPr>
        <p:spPr>
          <a:xfrm>
            <a:off x="3294308" y="1615216"/>
            <a:ext cx="38374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Human removed Reads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4FC7CB-A13A-7F66-D836-118AF91450E4}"/>
              </a:ext>
            </a:extLst>
          </p:cNvPr>
          <p:cNvSpPr txBox="1"/>
          <p:nvPr/>
        </p:nvSpPr>
        <p:spPr>
          <a:xfrm>
            <a:off x="3294308" y="2558000"/>
            <a:ext cx="38374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Assembly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37DE33-30BF-BE73-773E-8F17A29E597F}"/>
              </a:ext>
            </a:extLst>
          </p:cNvPr>
          <p:cNvSpPr txBox="1"/>
          <p:nvPr/>
        </p:nvSpPr>
        <p:spPr>
          <a:xfrm>
            <a:off x="3294308" y="3864437"/>
            <a:ext cx="38374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Bins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D509E-D09A-1A3A-1EB0-6432E346E904}"/>
              </a:ext>
            </a:extLst>
          </p:cNvPr>
          <p:cNvSpPr txBox="1"/>
          <p:nvPr/>
        </p:nvSpPr>
        <p:spPr>
          <a:xfrm>
            <a:off x="3294308" y="5647985"/>
            <a:ext cx="38374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VN" dirty="0"/>
              <a:t>Meta-assembled genomes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601541-5F00-8D74-AEDD-8F472CB7FB20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5213024" y="989114"/>
            <a:ext cx="0" cy="62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38C959-2DDE-6003-B4F0-A77B9195A004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213024" y="1984548"/>
            <a:ext cx="0" cy="562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65B5DEE-A6C6-0401-39E8-9C9CE194D8DF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5213024" y="2927332"/>
            <a:ext cx="0" cy="919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8BAE85A-8183-2A16-D250-21407A29624D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213024" y="4233769"/>
            <a:ext cx="0" cy="14142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01E5C18-6AF1-3E62-8D97-98D95A715D7B}"/>
              </a:ext>
            </a:extLst>
          </p:cNvPr>
          <p:cNvSpPr txBox="1"/>
          <p:nvPr/>
        </p:nvSpPr>
        <p:spPr>
          <a:xfrm>
            <a:off x="5493439" y="1054384"/>
            <a:ext cx="4108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Reads mapped to the human genome</a:t>
            </a:r>
          </a:p>
          <a:p>
            <a:r>
              <a:rPr lang="en-VN" sz="1400" dirty="0">
                <a:solidFill>
                  <a:srgbClr val="C00000"/>
                </a:solidFill>
              </a:rPr>
              <a:t>Minimap2, samtools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DCDCCD-92C1-89A5-B528-AFD1984EFF07}"/>
              </a:ext>
            </a:extLst>
          </p:cNvPr>
          <p:cNvSpPr txBox="1"/>
          <p:nvPr/>
        </p:nvSpPr>
        <p:spPr>
          <a:xfrm>
            <a:off x="5493439" y="2112003"/>
            <a:ext cx="34676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>
                <a:solidFill>
                  <a:srgbClr val="C00000"/>
                </a:solidFill>
              </a:rPr>
              <a:t>metaFlye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189120-A391-A367-828F-61A870FA0892}"/>
              </a:ext>
            </a:extLst>
          </p:cNvPr>
          <p:cNvSpPr txBox="1"/>
          <p:nvPr/>
        </p:nvSpPr>
        <p:spPr>
          <a:xfrm>
            <a:off x="5499709" y="2993232"/>
            <a:ext cx="32640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Filter out contigs &lt;1kb</a:t>
            </a:r>
          </a:p>
          <a:p>
            <a:r>
              <a:rPr lang="en-VN" sz="1400" dirty="0"/>
              <a:t>Map reads to the assembly for coverage</a:t>
            </a:r>
          </a:p>
          <a:p>
            <a:r>
              <a:rPr lang="en-VN" sz="1400" dirty="0">
                <a:solidFill>
                  <a:srgbClr val="C00000"/>
                </a:solidFill>
              </a:rPr>
              <a:t>MetaDecoder, SemiBin2, Vamb, MAGScoT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57413C-AFB5-5078-E241-FC501D070188}"/>
              </a:ext>
            </a:extLst>
          </p:cNvPr>
          <p:cNvSpPr txBox="1"/>
          <p:nvPr/>
        </p:nvSpPr>
        <p:spPr>
          <a:xfrm>
            <a:off x="5493439" y="4246646"/>
            <a:ext cx="34243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Filter out low quality bins based on completeness and contamination</a:t>
            </a:r>
          </a:p>
          <a:p>
            <a:r>
              <a:rPr lang="en-VN" sz="1400" dirty="0">
                <a:solidFill>
                  <a:srgbClr val="C00000"/>
                </a:solidFill>
              </a:rPr>
              <a:t>CheckM2, barrnap, tRNA, tRNAscan-se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2E4309-D970-E4B6-7859-641DAF9F176B}"/>
              </a:ext>
            </a:extLst>
          </p:cNvPr>
          <p:cNvSpPr txBox="1"/>
          <p:nvPr/>
        </p:nvSpPr>
        <p:spPr>
          <a:xfrm>
            <a:off x="320510" y="804448"/>
            <a:ext cx="2686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/>
              <a:t>AMR and Replicons screening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E99F335-BE52-E774-0C80-2D54CB21B3D5}"/>
              </a:ext>
            </a:extLst>
          </p:cNvPr>
          <p:cNvSpPr txBox="1"/>
          <p:nvPr/>
        </p:nvSpPr>
        <p:spPr>
          <a:xfrm>
            <a:off x="320510" y="1249743"/>
            <a:ext cx="2686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/>
              <a:t>Species richness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3E5ABD-7281-3EB9-4377-7CA2CAA85AAB}"/>
              </a:ext>
            </a:extLst>
          </p:cNvPr>
          <p:cNvSpPr txBox="1"/>
          <p:nvPr/>
        </p:nvSpPr>
        <p:spPr>
          <a:xfrm>
            <a:off x="320510" y="1695038"/>
            <a:ext cx="2686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dirty="0"/>
              <a:t>Species abundance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0249A6-2F70-F284-63D7-3F324C1A7590}"/>
              </a:ext>
            </a:extLst>
          </p:cNvPr>
          <p:cNvSpPr txBox="1"/>
          <p:nvPr/>
        </p:nvSpPr>
        <p:spPr>
          <a:xfrm>
            <a:off x="5493439" y="5043852"/>
            <a:ext cx="3424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400" dirty="0"/>
              <a:t>Taxonomic classification</a:t>
            </a:r>
          </a:p>
          <a:p>
            <a:r>
              <a:rPr lang="en-VN" sz="1400" dirty="0">
                <a:solidFill>
                  <a:srgbClr val="C00000"/>
                </a:solidFill>
              </a:rPr>
              <a:t>GTDB-Tk</a:t>
            </a:r>
          </a:p>
        </p:txBody>
      </p:sp>
    </p:spTree>
    <p:extLst>
      <p:ext uri="{BB962C8B-B14F-4D97-AF65-F5344CB8AC3E}">
        <p14:creationId xmlns:p14="http://schemas.microsoft.com/office/powerpoint/2010/main" val="327521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Taxonomic Abundance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Absolute (mean) abundance: the actual count of microorganisms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Relative abundance: the proportional relationship between different microorganisms within a sample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Example: Given a sample of 400000 bacterial cells, there are 100000 being species A, 100000 being species B, and 200000 being species C. </a:t>
            </a:r>
          </a:p>
          <a:p>
            <a:pPr>
              <a:buFontTx/>
              <a:buChar char="-"/>
            </a:pPr>
            <a:r>
              <a:rPr lang="en-US" sz="2000" dirty="0"/>
              <a:t>Absolute abundance of each species </a:t>
            </a:r>
          </a:p>
          <a:p>
            <a:pPr>
              <a:buFontTx/>
              <a:buChar char="-"/>
            </a:pPr>
            <a:r>
              <a:rPr lang="en-US" sz="2000" dirty="0"/>
              <a:t>Relative abundance of each species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2870-9339-CCDD-DC02-81365F5E7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Diversity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13385C-B241-E4B7-1ED8-A01A4A949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89" y="1618948"/>
            <a:ext cx="8672222" cy="278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19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Diversity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i="1" dirty="0"/>
              <a:t>Do the total number of microbes differ between samples?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Species richness </a:t>
            </a:r>
          </a:p>
          <a:p>
            <a:pPr marL="0" indent="0">
              <a:buNone/>
            </a:pPr>
            <a:r>
              <a:rPr lang="en-US" sz="2000" i="1" dirty="0"/>
              <a:t>How many different species are present in a microbial ecosystem?</a:t>
            </a:r>
          </a:p>
          <a:p>
            <a:pPr>
              <a:buFontTx/>
              <a:buChar char="-"/>
            </a:pPr>
            <a:r>
              <a:rPr lang="en-US" sz="2000" u="sng" dirty="0"/>
              <a:t>Chao1</a:t>
            </a:r>
            <a:r>
              <a:rPr lang="en-US" sz="2000" dirty="0"/>
              <a:t>: estimates true species richness based on the observed least abundant taxa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Species diversity </a:t>
            </a:r>
          </a:p>
          <a:p>
            <a:pPr marL="0" indent="0">
              <a:buNone/>
            </a:pPr>
            <a:r>
              <a:rPr lang="en-US" sz="2000" i="1" dirty="0"/>
              <a:t>Are species of nearly equal abundance? Are there dominating species?</a:t>
            </a:r>
          </a:p>
          <a:p>
            <a:pPr>
              <a:buFontTx/>
              <a:buChar char="-"/>
            </a:pPr>
            <a:r>
              <a:rPr lang="en-US" sz="2000" u="sng" dirty="0"/>
              <a:t>Shannon diversity index</a:t>
            </a:r>
            <a:r>
              <a:rPr lang="en-US" sz="2000" dirty="0"/>
              <a:t>: combine richness and evenness. The larger the value, the more well-balanced abundances</a:t>
            </a:r>
          </a:p>
          <a:p>
            <a:pPr>
              <a:buFontTx/>
              <a:buChar char="-"/>
            </a:pPr>
            <a:r>
              <a:rPr lang="en-US" sz="2000" dirty="0"/>
              <a:t>Simpson Index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A8C82-A890-A6B4-12EF-E2C5A1A1B5AD}"/>
              </a:ext>
            </a:extLst>
          </p:cNvPr>
          <p:cNvSpPr txBox="1"/>
          <p:nvPr/>
        </p:nvSpPr>
        <p:spPr>
          <a:xfrm>
            <a:off x="457200" y="6126163"/>
            <a:ext cx="84322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www.metagenomics.wiki</a:t>
            </a:r>
            <a:r>
              <a:rPr lang="en-US" sz="1200" dirty="0"/>
              <a:t>/pdf/taxonomy/alpha-beta-diversity</a:t>
            </a:r>
            <a:endParaRPr lang="en-VN" sz="1200" dirty="0"/>
          </a:p>
          <a:p>
            <a:r>
              <a:rPr lang="en-VN" sz="1200" dirty="0"/>
              <a:t>https://www.cd-genomics.com/resource-understanding-alpha-diversity-what-it-is-why-it-matters.html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Beta Diversity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6823"/>
            <a:ext cx="8229600" cy="47628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i="1" dirty="0"/>
              <a:t>Do the proportions of individual species differ between samples?</a:t>
            </a:r>
          </a:p>
          <a:p>
            <a:pPr marL="0" indent="0">
              <a:buNone/>
            </a:pPr>
            <a:endParaRPr lang="en-US" sz="1600" i="1" dirty="0"/>
          </a:p>
          <a:p>
            <a:pPr marL="0" indent="0" algn="just">
              <a:buNone/>
            </a:pPr>
            <a:r>
              <a:rPr lang="en-US" sz="1600" dirty="0"/>
              <a:t>Beta diversity shows the different between microbial communities from different environments = difference in taxonomic abundance profiles from different samples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Jaccard distance</a:t>
            </a:r>
          </a:p>
          <a:p>
            <a:pPr>
              <a:buFontTx/>
              <a:buChar char="-"/>
            </a:pPr>
            <a:r>
              <a:rPr lang="en-US" sz="1600" dirty="0"/>
              <a:t>Based on presence or absence of species </a:t>
            </a:r>
          </a:p>
          <a:p>
            <a:pPr>
              <a:buFontTx/>
              <a:buChar char="-"/>
            </a:pPr>
            <a:r>
              <a:rPr lang="en-US" sz="1600" dirty="0"/>
              <a:t>Different in microbial composition between two samples </a:t>
            </a:r>
          </a:p>
          <a:p>
            <a:pPr lvl="1">
              <a:buFontTx/>
              <a:buChar char="-"/>
            </a:pPr>
            <a:r>
              <a:rPr lang="en-US" sz="1600" dirty="0"/>
              <a:t>Value of 0: both samples share exact same species </a:t>
            </a:r>
          </a:p>
          <a:p>
            <a:pPr lvl="1">
              <a:buFontTx/>
              <a:buChar char="-"/>
            </a:pPr>
            <a:r>
              <a:rPr lang="en-US" sz="1600" dirty="0"/>
              <a:t>Value of 1: both samples have no species in common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Bray-Curtis dissimilarity </a:t>
            </a:r>
          </a:p>
          <a:p>
            <a:pPr>
              <a:buFontTx/>
              <a:buChar char="-"/>
            </a:pPr>
            <a:r>
              <a:rPr lang="en-US" sz="1600" dirty="0"/>
              <a:t>Based on abundance or read count data</a:t>
            </a:r>
          </a:p>
          <a:p>
            <a:pPr>
              <a:buFontTx/>
              <a:buChar char="-"/>
            </a:pPr>
            <a:r>
              <a:rPr lang="en-US" sz="1600" dirty="0"/>
              <a:t>Differences in microbial abundance between two samples </a:t>
            </a:r>
          </a:p>
          <a:p>
            <a:pPr lvl="1">
              <a:buFontTx/>
              <a:buChar char="-"/>
            </a:pPr>
            <a:r>
              <a:rPr lang="en-US" sz="1600" dirty="0"/>
              <a:t>Value of 0: both samples share the sample species at exact the same abundances</a:t>
            </a:r>
          </a:p>
          <a:p>
            <a:pPr lvl="1">
              <a:buFontTx/>
              <a:buChar char="-"/>
            </a:pPr>
            <a:r>
              <a:rPr lang="en-US" sz="1600" dirty="0"/>
              <a:t>Value of 1: both samples have completely different species abundances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A12A6B-8D8D-12CD-C81E-DBEB6B67AD56}"/>
              </a:ext>
            </a:extLst>
          </p:cNvPr>
          <p:cNvSpPr txBox="1"/>
          <p:nvPr/>
        </p:nvSpPr>
        <p:spPr>
          <a:xfrm>
            <a:off x="457200" y="6193242"/>
            <a:ext cx="67543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www.metagenomics.wiki</a:t>
            </a:r>
            <a:r>
              <a:rPr lang="en-US" sz="1200" dirty="0"/>
              <a:t>/pdf/taxonomy/alpha-beta-diversity</a:t>
            </a:r>
            <a:endParaRPr lang="en-VN" sz="1200" dirty="0"/>
          </a:p>
          <a:p>
            <a:r>
              <a:rPr lang="en-VN" sz="1200" dirty="0"/>
              <a:t>https://www.cd-genomics.com/resource-what-beta-diversity.html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 Packages for </a:t>
            </a:r>
            <a:r>
              <a:rPr lang="en-US" dirty="0"/>
              <a:t>diversity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p</a:t>
            </a:r>
            <a:r>
              <a:rPr sz="2000" dirty="0" err="1"/>
              <a:t>hyloseq</a:t>
            </a:r>
            <a:endParaRPr lang="en-US" sz="2000" dirty="0"/>
          </a:p>
          <a:p>
            <a:pPr lvl="1"/>
            <a:r>
              <a:rPr lang="en-US" sz="2000" dirty="0"/>
              <a:t>Alpha diversity: </a:t>
            </a:r>
            <a:r>
              <a:rPr lang="en-US" sz="2000" dirty="0" err="1"/>
              <a:t>plot_richness</a:t>
            </a:r>
            <a:r>
              <a:rPr lang="en-US" sz="2000" dirty="0"/>
              <a:t>()</a:t>
            </a:r>
          </a:p>
          <a:p>
            <a:r>
              <a:rPr lang="en-US" sz="2000" dirty="0"/>
              <a:t>v</a:t>
            </a:r>
            <a:r>
              <a:rPr lang="en-VN" sz="2000" dirty="0"/>
              <a:t>egan</a:t>
            </a:r>
          </a:p>
          <a:p>
            <a:pPr lvl="1"/>
            <a:r>
              <a:rPr lang="en-US" sz="2000" dirty="0"/>
              <a:t>Alpha diversity: d</a:t>
            </a:r>
            <a:r>
              <a:rPr lang="en-VN" sz="2000" dirty="0"/>
              <a:t>iversity(), rarefy() </a:t>
            </a:r>
            <a:endParaRPr lang="en-US" sz="2000" dirty="0"/>
          </a:p>
          <a:p>
            <a:pPr lvl="1"/>
            <a:r>
              <a:rPr lang="en-US" sz="2000" dirty="0"/>
              <a:t>Beta diversity: </a:t>
            </a:r>
            <a:r>
              <a:rPr lang="en-US" sz="2000" dirty="0" err="1"/>
              <a:t>vegdist</a:t>
            </a:r>
            <a:r>
              <a:rPr lang="en-US" sz="2000" dirty="0"/>
              <a:t>(), </a:t>
            </a:r>
            <a:r>
              <a:rPr lang="en-US" sz="2000" dirty="0" err="1"/>
              <a:t>betadiver</a:t>
            </a:r>
            <a:r>
              <a:rPr lang="en-US" sz="2000" dirty="0"/>
              <a:t>()</a:t>
            </a:r>
            <a:endParaRPr sz="2000" dirty="0"/>
          </a:p>
          <a:p>
            <a:r>
              <a:rPr lang="en-US" sz="2000" dirty="0"/>
              <a:t>G</a:t>
            </a:r>
            <a:r>
              <a:rPr sz="2000" dirty="0"/>
              <a:t>gplot2</a:t>
            </a:r>
            <a:r>
              <a:rPr lang="en-US" sz="2000" dirty="0"/>
              <a:t>, </a:t>
            </a:r>
            <a:r>
              <a:rPr lang="en-US" sz="2000" dirty="0" err="1"/>
              <a:t>abdiv</a:t>
            </a:r>
            <a:r>
              <a:rPr lang="en-US" sz="2000" dirty="0"/>
              <a:t>, </a:t>
            </a:r>
            <a:r>
              <a:rPr lang="en-US" sz="2000" dirty="0" err="1"/>
              <a:t>rarestR</a:t>
            </a:r>
            <a:r>
              <a:rPr lang="en-US" sz="2000" dirty="0"/>
              <a:t>, </a:t>
            </a:r>
            <a:r>
              <a:rPr lang="en-US" sz="2000" dirty="0" err="1"/>
              <a:t>hillR</a:t>
            </a:r>
            <a:r>
              <a:rPr lang="en-US" sz="2000" dirty="0"/>
              <a:t>, </a:t>
            </a:r>
            <a:r>
              <a:rPr lang="en-US" sz="2000" dirty="0" err="1"/>
              <a:t>rdiversity</a:t>
            </a:r>
            <a:r>
              <a:rPr lang="en-US" sz="2000" dirty="0"/>
              <a:t>, </a:t>
            </a:r>
            <a:r>
              <a:rPr lang="en-US" sz="2000" dirty="0" err="1"/>
              <a:t>divraster</a:t>
            </a:r>
            <a:r>
              <a:rPr lang="en-US" sz="2000" dirty="0"/>
              <a:t>, etc. </a:t>
            </a:r>
            <a:endParaRPr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ADDEC5-76CE-079E-107F-EA86B2EA3171}"/>
              </a:ext>
            </a:extLst>
          </p:cNvPr>
          <p:cNvSpPr txBox="1"/>
          <p:nvPr/>
        </p:nvSpPr>
        <p:spPr>
          <a:xfrm>
            <a:off x="457200" y="3975458"/>
            <a:ext cx="838514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dirty="0">
                <a:hlinkClick r:id="rId2"/>
              </a:rPr>
              <a:t>https://rpubs.com/mrgambero/taxa_alpha_beta</a:t>
            </a:r>
            <a:endParaRPr lang="en-VN" dirty="0"/>
          </a:p>
          <a:p>
            <a:r>
              <a:rPr lang="en-US" dirty="0">
                <a:hlinkClick r:id="rId3"/>
              </a:rPr>
              <a:t>https://carpentries-lab.github.io/metagenomics-analysis/08-Diversity-tackled-with-R/index.html</a:t>
            </a:r>
            <a:endParaRPr lang="en-US" dirty="0"/>
          </a:p>
          <a:p>
            <a:r>
              <a:rPr lang="en-US" dirty="0">
                <a:hlinkClick r:id="rId4"/>
              </a:rPr>
              <a:t>https://yanhui09.github.io/microbiome_analysis/1_microbiome_r.html</a:t>
            </a:r>
            <a:endParaRPr lang="en-US" dirty="0"/>
          </a:p>
          <a:p>
            <a:endParaRPr lang="en-V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462</Words>
  <Application>Microsoft Macintosh PowerPoint</Application>
  <PresentationFormat>On-screen Show (4:3)</PresentationFormat>
  <Paragraphs>69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Alpha and Beta diversity</vt:lpstr>
      <vt:lpstr>PowerPoint Presentation</vt:lpstr>
      <vt:lpstr>Taxonomic Abundance</vt:lpstr>
      <vt:lpstr>Diversity</vt:lpstr>
      <vt:lpstr>Alpha Diversity – Concept</vt:lpstr>
      <vt:lpstr>Beta Diversity – Concept</vt:lpstr>
      <vt:lpstr>R Packages for diversity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Trang Nguyen Thi Quynh</cp:lastModifiedBy>
  <cp:revision>3</cp:revision>
  <dcterms:created xsi:type="dcterms:W3CDTF">2013-01-27T09:14:16Z</dcterms:created>
  <dcterms:modified xsi:type="dcterms:W3CDTF">2026-01-20T04:45:57Z</dcterms:modified>
  <cp:category/>
</cp:coreProperties>
</file>